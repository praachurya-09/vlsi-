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6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Low-Power SRAM Cell Design via Transistor Sizing Optimization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Minimizing power consumption in SRAM without compromising stability, speed, or reliability — through precise transistor dimension optimization.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5235" y="515422"/>
            <a:ext cx="5748576" cy="578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SRAM Power Matters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235" y="1491139"/>
            <a:ext cx="8148757" cy="45480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33334" y="2957513"/>
            <a:ext cx="4179332" cy="1615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SRAM is ubiquitous across modern digital systems — from high-performance processors to resource-constrained IoT endpoints. As array sizes scale, </a:t>
            </a:r>
            <a:pPr algn="l" indent="0" marL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SRAM becomes one of the dominant contributors to total chip power budget.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925235" y="6379488"/>
            <a:ext cx="4159091" cy="1334572"/>
          </a:xfrm>
          <a:prstGeom prst="roundRect">
            <a:avLst>
              <a:gd name="adj" fmla="val 82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02375" y="6379488"/>
            <a:ext cx="91440" cy="1334572"/>
          </a:xfrm>
          <a:prstGeom prst="roundRect">
            <a:avLst>
              <a:gd name="adj" fmla="val 30383"/>
            </a:avLst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1201817" y="6587490"/>
            <a:ext cx="231517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Processors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01817" y="6967657"/>
            <a:ext cx="3674507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Cache hierarchies dominate die area and leakage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235535" y="6379488"/>
            <a:ext cx="4159210" cy="1334572"/>
          </a:xfrm>
          <a:prstGeom prst="roundRect">
            <a:avLst>
              <a:gd name="adj" fmla="val 82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12675" y="6379488"/>
            <a:ext cx="91440" cy="1334572"/>
          </a:xfrm>
          <a:prstGeom prst="roundRect">
            <a:avLst>
              <a:gd name="adj" fmla="val 30383"/>
            </a:avLst>
          </a:prstGeom>
          <a:solidFill>
            <a:srgbClr val="1C9770"/>
          </a:solidFill>
          <a:ln/>
        </p:spPr>
      </p:sp>
      <p:sp>
        <p:nvSpPr>
          <p:cNvPr id="11" name="Text 8"/>
          <p:cNvSpPr/>
          <p:nvPr/>
        </p:nvSpPr>
        <p:spPr>
          <a:xfrm>
            <a:off x="5512118" y="6587490"/>
            <a:ext cx="231517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Embedded Systems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512118" y="6967657"/>
            <a:ext cx="3674626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Tight power envelopes demand ultra-low standby current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9545955" y="6379488"/>
            <a:ext cx="4159210" cy="1334572"/>
          </a:xfrm>
          <a:prstGeom prst="roundRect">
            <a:avLst>
              <a:gd name="adj" fmla="val 8222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23095" y="6379488"/>
            <a:ext cx="91440" cy="1334572"/>
          </a:xfrm>
          <a:prstGeom prst="roundRect">
            <a:avLst>
              <a:gd name="adj" fmla="val 30383"/>
            </a:avLst>
          </a:prstGeom>
          <a:solidFill>
            <a:srgbClr val="1C9770"/>
          </a:solidFill>
          <a:ln/>
        </p:spPr>
      </p:sp>
      <p:sp>
        <p:nvSpPr>
          <p:cNvPr id="15" name="Text 12"/>
          <p:cNvSpPr/>
          <p:nvPr/>
        </p:nvSpPr>
        <p:spPr>
          <a:xfrm>
            <a:off x="9822537" y="6587490"/>
            <a:ext cx="2315170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IoT Devices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822537" y="6967657"/>
            <a:ext cx="3674626" cy="538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Battery life directly tied to memory power efficiency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97618"/>
            <a:ext cx="729817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Core Design Challenge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946559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Stability. Speed. Minimum Power.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5243155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Achieving all three simultaneously in a single SRAM cell requires careful, multi-objective transistor sizing — not simply shrinking dimensions across the board.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8461" y="517327"/>
            <a:ext cx="5269230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SRAM Power Breakdown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1" y="1473041"/>
            <a:ext cx="6074093" cy="60740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5467" y="3412688"/>
            <a:ext cx="6074093" cy="1053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 advanced process nodes,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static leakage power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increasingly dominates total SRAM power consumption. Even when idle, large memory arrays dissipate significant energy through subthreshold and gate-oxide leakage currents.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545467" y="4631769"/>
            <a:ext cx="6074093" cy="942737"/>
          </a:xfrm>
          <a:prstGeom prst="roundRect">
            <a:avLst>
              <a:gd name="adj" fmla="val 2904"/>
            </a:avLst>
          </a:prstGeom>
          <a:solidFill>
            <a:srgbClr val="BEF3E2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871" y="4890611"/>
            <a:ext cx="228124" cy="1824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38398" y="4824174"/>
            <a:ext cx="5298757" cy="526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Leakage reduction is the primary target of transistor sizing optimization in low-power SRAM design.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1602"/>
            <a:ext cx="113242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Optimization Levers: Transistor Sizing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5401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width-to-length ratio (W/L) of each transistor in the 6T SRAM cell governs the tradeoff between drive strength, leakage, and stability margins.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534966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3948827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Leakage Reduction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515945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Wider L suppresses subthreshold current; narrow W reduces gate area and oxide leakage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534966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94882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Read/Write Stability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43776" y="515945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Pull-up to pull-down ratios (β ratio) set the Static Noise Margin (SNM) for read operations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3534966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76178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54114" y="3948827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6690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Access Time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66948" y="515945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Access transistor sizing balances write margin against read disturbance without sacrificing speed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0881" y="507325"/>
            <a:ext cx="5951220" cy="541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Sizing Optimization Flow</a:t>
            </a:r>
            <a:endParaRPr lang="en-US" sz="3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519" y="1314569"/>
            <a:ext cx="10891361" cy="57688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77423" y="5437528"/>
            <a:ext cx="2692911" cy="336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Define Constraints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3185927" y="5869890"/>
            <a:ext cx="2884407" cy="4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Set SNM, timing, and voltage targets.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2324195" y="2052689"/>
            <a:ext cx="2692911" cy="336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Parametric Sweep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2132699" y="2485050"/>
            <a:ext cx="2884407" cy="4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Vary W/L ratios across cell transistors.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95686" y="2052689"/>
            <a:ext cx="2692912" cy="336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SPICE Simulation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595686" y="2485050"/>
            <a:ext cx="2884407" cy="4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Evaluate power, stability, and speed metrics.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613008" y="5437716"/>
            <a:ext cx="2692912" cy="336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Optimal Sizing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9613008" y="5870077"/>
            <a:ext cx="2884407" cy="4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Select Pareto-optimal design point.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330881" y="7232571"/>
            <a:ext cx="11968639" cy="489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Iterative SPICE-level simulation across the W/L design space yields a Pareto-optimal sizing that minimizes leakage while satisfying read SNM and write margin specifications.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418" y="533043"/>
            <a:ext cx="9700974" cy="605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Stability Metrics Under Sizing Constraints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8418" y="2990136"/>
            <a:ext cx="242292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Figure of Merit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78418" y="3458528"/>
            <a:ext cx="4338280" cy="143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</a:t>
            </a:r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Static Noise Margin (SNM)</a:t>
            </a:r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is the primary stability metric. It is extracted from the butterfly curve of the SRAM cell and must remain positive under worst-case process, voltage, and temperature (PVT) corners.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7235" y="1573411"/>
            <a:ext cx="8462248" cy="47230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8418" y="6669167"/>
            <a:ext cx="436126" cy="43612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751046" y="6705481"/>
            <a:ext cx="290751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280160" y="6735723"/>
            <a:ext cx="242292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Read SNM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280160" y="7137797"/>
            <a:ext cx="3684746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Constrained by pull-down to access transistor ratio (cell ratio)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171956" y="6669167"/>
            <a:ext cx="436126" cy="43612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5244584" y="6705481"/>
            <a:ext cx="290751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5773698" y="6735723"/>
            <a:ext cx="242292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Write Margin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5773698" y="7137797"/>
            <a:ext cx="3684746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Constrained by access to pull-up transistor ratio (pull-up ratio)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665494" y="6669167"/>
            <a:ext cx="436126" cy="43612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9738122" y="6705481"/>
            <a:ext cx="290751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267236" y="6735723"/>
            <a:ext cx="2422922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Hold SNM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267236" y="7137797"/>
            <a:ext cx="3684746" cy="575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Maximized when access transistors are minimally sized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8120" y="491490"/>
            <a:ext cx="7146727" cy="558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Multi-Objective Design Tradeoffs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8120" y="1331714"/>
            <a:ext cx="10485120" cy="58521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120" y="1331714"/>
            <a:ext cx="10485120" cy="5852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8120" y="7342346"/>
            <a:ext cx="12334042" cy="511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single transistor sizing simultaneously minimizes all three objectives. The optimization target is the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Pareto frontier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the set of designs where no objective can be improved without degrading another.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00524" y="1121331"/>
            <a:ext cx="4386977" cy="548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Key Takeaways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0524" y="1873329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100524" y="2148602"/>
            <a:ext cx="791575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6" name="Text 3"/>
          <p:cNvSpPr/>
          <p:nvPr/>
        </p:nvSpPr>
        <p:spPr>
          <a:xfrm>
            <a:off x="6100524" y="2281952"/>
            <a:ext cx="4874657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Transistor sizing is the primary design variable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100524" y="2637473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W/L ratios directly control leakage, drive strength, and noise margins in the 6T cell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00524" y="3153728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00524" y="3429000"/>
            <a:ext cx="791575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0" name="Text 7"/>
          <p:cNvSpPr/>
          <p:nvPr/>
        </p:nvSpPr>
        <p:spPr>
          <a:xfrm>
            <a:off x="6100524" y="3562350"/>
            <a:ext cx="4118491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Leakage dominates at advanced nodes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100524" y="3917871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Static power reduction must be the first-order optimization objective in modern SRAM arrays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100524" y="4434126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100524" y="4709398"/>
            <a:ext cx="791575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4" name="Text 11"/>
          <p:cNvSpPr/>
          <p:nvPr/>
        </p:nvSpPr>
        <p:spPr>
          <a:xfrm>
            <a:off x="6100524" y="4842748"/>
            <a:ext cx="4623316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Stability and power are coupled constraints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00524" y="5198269"/>
            <a:ext cx="7915751" cy="248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SNM and write margin set hard lower bounds that the power optimization must respect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100524" y="5714524"/>
            <a:ext cx="175379" cy="219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100524" y="5989796"/>
            <a:ext cx="791575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8" name="Text 15"/>
          <p:cNvSpPr/>
          <p:nvPr/>
        </p:nvSpPr>
        <p:spPr>
          <a:xfrm>
            <a:off x="6100524" y="6123146"/>
            <a:ext cx="3389709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Pareto-optimal sizing is the goal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100524" y="6478667"/>
            <a:ext cx="7915751" cy="497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design target is the balanced point minimizing power while meeting speed and stability specs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4366"/>
            <a:ext cx="7797046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Design Objective — In One Line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1045012" y="1971556"/>
            <a:ext cx="12853868" cy="3605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50"/>
              </a:lnSpc>
              <a:buNone/>
            </a:pPr>
            <a:r>
              <a:rPr lang="en-US" sz="5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Optimize transistor dimensions</a:t>
            </a:r>
            <a:pPr algn="l" indent="0" marL="0">
              <a:lnSpc>
                <a:spcPts val="7050"/>
              </a:lnSpc>
              <a:buNone/>
            </a:pPr>
            <a:r>
              <a:rPr lang="en-US" sz="56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in SRAM cells to minimize power consumption while preserving stability and performance.</a:t>
            </a:r>
            <a:endParaRPr lang="en-US" sz="5650" dirty="0"/>
          </a:p>
        </p:txBody>
      </p:sp>
      <p:sp>
        <p:nvSpPr>
          <p:cNvPr id="4" name="Shape 2"/>
          <p:cNvSpPr/>
          <p:nvPr/>
        </p:nvSpPr>
        <p:spPr>
          <a:xfrm>
            <a:off x="731520" y="1682710"/>
            <a:ext cx="22860" cy="418338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6082665"/>
            <a:ext cx="4260771" cy="1502569"/>
          </a:xfrm>
          <a:prstGeom prst="roundRect">
            <a:avLst>
              <a:gd name="adj" fmla="val 208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940475" y="6291620"/>
            <a:ext cx="261270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Minimize</a:t>
            </a:r>
            <a:endParaRPr lang="en-US" sz="2050" dirty="0"/>
          </a:p>
        </p:txBody>
      </p:sp>
      <p:sp>
        <p:nvSpPr>
          <p:cNvPr id="7" name="Text 5"/>
          <p:cNvSpPr/>
          <p:nvPr/>
        </p:nvSpPr>
        <p:spPr>
          <a:xfrm>
            <a:off x="940475" y="6733580"/>
            <a:ext cx="384286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Leakage &amp; dynamic power across all operating modes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84815" y="6082665"/>
            <a:ext cx="4260771" cy="1502569"/>
          </a:xfrm>
          <a:prstGeom prst="roundRect">
            <a:avLst>
              <a:gd name="adj" fmla="val 208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5393769" y="6291620"/>
            <a:ext cx="261270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Maintain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5393769" y="6733580"/>
            <a:ext cx="384286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Read/write SNM above PVT worst-case threshold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38109" y="6082665"/>
            <a:ext cx="4260771" cy="1502569"/>
          </a:xfrm>
          <a:prstGeom prst="roundRect">
            <a:avLst>
              <a:gd name="adj" fmla="val 208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847064" y="6291620"/>
            <a:ext cx="2612708" cy="326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Achieve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9847064" y="6733580"/>
            <a:ext cx="3842861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Competitive access time within target clock frequency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2026-04-09T05:16:48Z</dcterms:created>
  <dcterms:modified xsi:type="dcterms:W3CDTF">2026-04-09T05:16:48Z</dcterms:modified>
</cp:coreProperties>
</file>